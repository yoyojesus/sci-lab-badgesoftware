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58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stin Sternberg" userId="68e621ad59c4c0ef" providerId="LiveId" clId="{3F4F589A-B6F1-4B24-963B-CE89244BC694}"/>
    <pc:docChg chg="custSel modSld">
      <pc:chgData name="Austin Sternberg" userId="68e621ad59c4c0ef" providerId="LiveId" clId="{3F4F589A-B6F1-4B24-963B-CE89244BC694}" dt="2026-09-25T17:51:44.416" v="1" actId="20577"/>
      <pc:docMkLst>
        <pc:docMk/>
      </pc:docMkLst>
      <pc:sldChg chg="modSp mod">
        <pc:chgData name="Austin Sternberg" userId="68e621ad59c4c0ef" providerId="LiveId" clId="{3F4F589A-B6F1-4B24-963B-CE89244BC694}" dt="2026-09-25T17:51:44.416" v="1" actId="20577"/>
        <pc:sldMkLst>
          <pc:docMk/>
          <pc:sldMk cId="0" sldId="258"/>
        </pc:sldMkLst>
        <pc:spChg chg="mod">
          <ac:chgData name="Austin Sternberg" userId="68e621ad59c4c0ef" providerId="LiveId" clId="{3F4F589A-B6F1-4B24-963B-CE89244BC694}" dt="2026-09-25T17:51:44.416" v="1" actId="20577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Austin Sternberg" userId="68e621ad59c4c0ef" providerId="LiveId" clId="{3F4F589A-B6F1-4B24-963B-CE89244BC694}" dt="2026-09-25T17:43:06.289" v="0" actId="33524"/>
        <pc:sldMkLst>
          <pc:docMk/>
          <pc:sldMk cId="0" sldId="259"/>
        </pc:sldMkLst>
        <pc:spChg chg="mod">
          <ac:chgData name="Austin Sternberg" userId="68e621ad59c4c0ef" providerId="LiveId" clId="{3F4F589A-B6F1-4B24-963B-CE89244BC694}" dt="2026-09-25T17:43:06.289" v="0" actId="33524"/>
          <ac:spMkLst>
            <pc:docMk/>
            <pc:sldMk cId="0" sldId="259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07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87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04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56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6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08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85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21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90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299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73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557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07/s41666-019-00066-z" TargetMode="External"/><Relationship Id="rId13" Type="http://schemas.openxmlformats.org/officeDocument/2006/relationships/hyperlink" Target="https://doi.org/10.3390/mti9010006" TargetMode="External"/><Relationship Id="rId3" Type="http://schemas.openxmlformats.org/officeDocument/2006/relationships/hyperlink" Target="https://doi.org/10.1145/3432210" TargetMode="External"/><Relationship Id="rId7" Type="http://schemas.openxmlformats.org/officeDocument/2006/relationships/hyperlink" Target="https://doi.org/10.3390/s23249777" TargetMode="External"/><Relationship Id="rId12" Type="http://schemas.openxmlformats.org/officeDocument/2006/relationships/hyperlink" Target="https://doi.org/10.48550/arxiv.2404.11023" TargetMode="External"/><Relationship Id="rId2" Type="http://schemas.openxmlformats.org/officeDocument/2006/relationships/hyperlink" Target="https://doi.org/10.1145/3610882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oi.org/10.2144/btn-2020-0160" TargetMode="External"/><Relationship Id="rId11" Type="http://schemas.openxmlformats.org/officeDocument/2006/relationships/hyperlink" Target="https://doi.org/10.1109/percomworkshops59983.2024.10502797" TargetMode="External"/><Relationship Id="rId5" Type="http://schemas.openxmlformats.org/officeDocument/2006/relationships/hyperlink" Target="https://doi.org/10.48550/arxiv.2108.05553" TargetMode="External"/><Relationship Id="rId10" Type="http://schemas.openxmlformats.org/officeDocument/2006/relationships/hyperlink" Target="https://doi.org/10.48550/arxiv.2504.03455" TargetMode="External"/><Relationship Id="rId4" Type="http://schemas.openxmlformats.org/officeDocument/2006/relationships/hyperlink" Target="https://doi.org/10.1109/aciiw.2019.8925179" TargetMode="External"/><Relationship Id="rId9" Type="http://schemas.openxmlformats.org/officeDocument/2006/relationships/hyperlink" Target="https://doi.org/10.3390/ani14243628" TargetMode="External"/><Relationship Id="rId14" Type="http://schemas.openxmlformats.org/officeDocument/2006/relationships/hyperlink" Target="https://doi.org/10.3390/bios1207050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0"/>
            <a:ext cx="9912096" cy="2697480"/>
          </a:xfrm>
        </p:spPr>
        <p:txBody>
          <a:bodyPr/>
          <a:lstStyle/>
          <a:p>
            <a:r>
              <a:t>New Research &amp; High-Rate Sampling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Austin Sternberg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7A59A-4F26-DAE6-3E11-AF5DC61905BA}"/>
              </a:ext>
            </a:extLst>
          </p:cNvPr>
          <p:cNvSpPr txBox="1"/>
          <p:nvPr/>
        </p:nvSpPr>
        <p:spPr>
          <a:xfrm>
            <a:off x="74577" y="6544127"/>
            <a:ext cx="14356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SCI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Research: Conversation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68880"/>
            <a:ext cx="5102352" cy="3657600"/>
          </a:xfrm>
        </p:spPr>
        <p:txBody>
          <a:bodyPr/>
          <a:lstStyle/>
          <a:p>
            <a:pPr marL="0" indent="0">
              <a:spcBef>
                <a:spcPts val="1000"/>
              </a:spcBef>
              <a:buNone/>
            </a:pPr>
            <a:r>
              <a:rPr sz="1600" b="1"/>
              <a:t>Smartwatch Conversation Detection (Liang et al., 2023)</a:t>
            </a:r>
          </a:p>
          <a:p>
            <a:r>
              <a:rPr sz="1300" b="1"/>
              <a:t>What:</a:t>
            </a:r>
            <a:r>
              <a:rPr sz="1300" b="0"/>
              <a:t> Detects the wearer's face-to-face conversations from a commodity smartwatch microphone, with no acoustic model trained on the wearer or people nearby</a:t>
            </a:r>
          </a:p>
          <a:p>
            <a:r>
              <a:rPr sz="1300" b="1"/>
              <a:t>Found:</a:t>
            </a:r>
            <a:r>
              <a:rPr sz="1300" b="0"/>
              <a:t> 83.2% F1 with 39 people in 18 homes and 83.3% in free living; also ran in real time on a watch</a:t>
            </a:r>
          </a:p>
          <a:p>
            <a:r>
              <a:rPr sz="1300" b="1"/>
              <a:t>Why it matters:</a:t>
            </a:r>
            <a:r>
              <a:rPr sz="1300" b="0"/>
              <a:t> Conversation detection without custom hardware</a:t>
            </a:r>
          </a:p>
          <a:p>
            <a:r>
              <a:rPr sz="1300" b="1"/>
              <a:t>Limitation:</a:t>
            </a:r>
            <a:r>
              <a:rPr sz="1300" b="0"/>
              <a:t> Uses microphone audio, so privacy handling matters more than for motion-only methods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68880"/>
            <a:ext cx="5102352" cy="3657600"/>
          </a:xfrm>
        </p:spPr>
        <p:txBody>
          <a:bodyPr/>
          <a:lstStyle/>
          <a:p>
            <a:pPr marL="0" indent="0">
              <a:spcBef>
                <a:spcPts val="1000"/>
              </a:spcBef>
              <a:buNone/>
            </a:pPr>
            <a:r>
              <a:rPr sz="1600" b="1"/>
              <a:t>Downsampled Audio VAD (Ovaska et al., 2021)</a:t>
            </a:r>
          </a:p>
          <a:p>
            <a:r>
              <a:rPr sz="1300" b="1"/>
              <a:t>What:</a:t>
            </a:r>
            <a:r>
              <a:rPr sz="1300" b="0"/>
              <a:t> Badges downsample audio so speech can't be understood; this team built a deep-learning voice activity detector for that audio</a:t>
            </a:r>
          </a:p>
          <a:p>
            <a:r>
              <a:rPr sz="1300" b="1"/>
              <a:t>Found:</a:t>
            </a:r>
            <a:r>
              <a:rPr sz="1300" b="0"/>
              <a:t> Excellent validation scores, but only moderate accuracy in a real low-noise meeting and across noise levels</a:t>
            </a:r>
          </a:p>
          <a:p>
            <a:r>
              <a:rPr sz="1300" b="1"/>
              <a:t>Why it matters:</a:t>
            </a:r>
            <a:r>
              <a:rPr sz="1300" b="0"/>
              <a:t> Closest to our sound-level approach; lab scores can overstate real-room performance</a:t>
            </a:r>
          </a:p>
          <a:p>
            <a:r>
              <a:rPr sz="1300" b="1"/>
              <a:t>Limitation:</a:t>
            </a:r>
            <a:r>
              <a:rPr sz="1300" b="0"/>
              <a:t> Experiment report; the lessons learned are the main contribution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2</a:t>
            </a:fld>
            <a:endParaRPr 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677A59A-4F26-DAE6-3E11-AF5DC61905BA}"/>
              </a:ext>
            </a:extLst>
          </p:cNvPr>
          <p:cNvSpPr txBox="1"/>
          <p:nvPr/>
        </p:nvSpPr>
        <p:spPr>
          <a:xfrm>
            <a:off x="74577" y="6544127"/>
            <a:ext cx="14356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SCI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Research: Groups &amp;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68880"/>
            <a:ext cx="5102352" cy="3657600"/>
          </a:xfrm>
        </p:spPr>
        <p:txBody>
          <a:bodyPr/>
          <a:lstStyle/>
          <a:p>
            <a:pPr marL="0" indent="0">
              <a:spcBef>
                <a:spcPts val="1000"/>
              </a:spcBef>
              <a:buNone/>
            </a:pPr>
            <a:r>
              <a:rPr sz="1600" b="1"/>
              <a:t>F-formations &amp; Roles (Rosatelli et al., 2019)</a:t>
            </a:r>
          </a:p>
          <a:p>
            <a:r>
              <a:rPr sz="1300" b="1"/>
              <a:t>What:</a:t>
            </a:r>
            <a:r>
              <a:rPr sz="1300" b="0"/>
              <a:t> Decides whether two people are in the same conversing group, and who is speaker or listener, from one wearable each (binary proximity + acceleration) using LSTMs</a:t>
            </a:r>
          </a:p>
          <a:p>
            <a:r>
              <a:rPr sz="1300" b="1"/>
              <a:t>Found:</a:t>
            </a:r>
            <a:r>
              <a:rPr sz="1300" b="0"/>
              <a:t> Fusing both signals beat either alone: 0.975 AUC on 30 s windows (MatchNMingle dataset). Each role pair needed a different window length</a:t>
            </a:r>
          </a:p>
          <a:p>
            <a:r>
              <a:rPr sz="1300" b="1"/>
              <a:t>Why it matters:</a:t>
            </a:r>
            <a:r>
              <a:rPr sz="1300" b="0"/>
              <a:t> Group structure with no audio at all; window length is a feature design choice for us</a:t>
            </a:r>
          </a:p>
          <a:p>
            <a:r>
              <a:rPr sz="1300" b="1"/>
              <a:t>Limitation:</a:t>
            </a:r>
            <a:r>
              <a:rPr sz="1300" b="0"/>
              <a:t> Everyone in the group has to wear a sensor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68880"/>
            <a:ext cx="5102352" cy="3657600"/>
          </a:xfrm>
        </p:spPr>
        <p:txBody>
          <a:bodyPr/>
          <a:lstStyle/>
          <a:p>
            <a:pPr marL="0" indent="0">
              <a:spcBef>
                <a:spcPts val="1000"/>
              </a:spcBef>
              <a:buNone/>
            </a:pPr>
            <a:r>
              <a:rPr sz="1600" b="1" dirty="0"/>
              <a:t>Stressful Conversation Detection (Bari et al., 2020)</a:t>
            </a:r>
          </a:p>
          <a:p>
            <a:r>
              <a:rPr sz="1300" b="1" dirty="0"/>
              <a:t>What:</a:t>
            </a:r>
            <a:r>
              <a:rPr sz="1300" b="0" dirty="0"/>
              <a:t> When a wearable detects stress, was a conversation the cause? Lab and field studies with couples, using ECG/EDA and wrist motion</a:t>
            </a:r>
          </a:p>
          <a:p>
            <a:r>
              <a:rPr sz="1300" b="1" dirty="0"/>
              <a:t>Found:</a:t>
            </a:r>
            <a:r>
              <a:rPr sz="1300" b="0" dirty="0"/>
              <a:t> Stress cycles and hand gestures look different in stressful conversations; 0.83 F1 from one cycle across 38 people, fast enough to respond within 3.9 min</a:t>
            </a:r>
          </a:p>
          <a:p>
            <a:r>
              <a:rPr sz="1300" b="1" dirty="0"/>
              <a:t>Why it matters:</a:t>
            </a:r>
            <a:r>
              <a:rPr sz="1300" b="0" dirty="0"/>
              <a:t> Links conversation to a physiological response</a:t>
            </a:r>
          </a:p>
          <a:p>
            <a:r>
              <a:rPr sz="1300" b="1" dirty="0"/>
              <a:t>Limitation:</a:t>
            </a:r>
            <a:r>
              <a:rPr sz="1300" b="0" dirty="0"/>
              <a:t> Detects stressful conversations, not conversation in general; needs physiological sensors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3</a:t>
            </a:fld>
            <a:endParaRPr 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677A59A-4F26-DAE6-3E11-AF5DC61905BA}"/>
              </a:ext>
            </a:extLst>
          </p:cNvPr>
          <p:cNvSpPr txBox="1"/>
          <p:nvPr/>
        </p:nvSpPr>
        <p:spPr>
          <a:xfrm>
            <a:off x="74577" y="6544127"/>
            <a:ext cx="14356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SCI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Research: Engagement &amp; Affect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7A59A-4F26-DAE6-3E11-AF5DC61905BA}"/>
              </a:ext>
            </a:extLst>
          </p:cNvPr>
          <p:cNvSpPr txBox="1"/>
          <p:nvPr/>
        </p:nvSpPr>
        <p:spPr>
          <a:xfrm>
            <a:off x="74577" y="6544127"/>
            <a:ext cx="14356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SCI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246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sz="1500" b="1"/>
              <a:t>Engagement in Learning (Bustos-López et al., 2022)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What:</a:t>
            </a:r>
            <a:r>
              <a:rPr sz="1250" b="0"/>
              <a:t> Review of wearables that detect student engagement from physiological signals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Found:</a:t>
            </a:r>
            <a:r>
              <a:rPr sz="1250" b="0"/>
              <a:t> Common signals are HR, skin temp, respiration, SpO2, BP, and ECG; stress and surprise flagged as key features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Why it matters:</a:t>
            </a:r>
            <a:r>
              <a:rPr sz="1250" b="0"/>
              <a:t> Closest education-side parallel to meeting engagement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Limitation:</a:t>
            </a:r>
            <a:r>
              <a:rPr sz="1250" b="0"/>
              <a:t> Signals are the most commonly used, not proven most reliable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468880"/>
            <a:ext cx="3246120" cy="2644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sz="1500" b="1" dirty="0"/>
              <a:t>Affect Estimation (Yan et al., 2020)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 dirty="0"/>
              <a:t>What:</a:t>
            </a:r>
            <a:r>
              <a:rPr sz="1250" b="0" dirty="0"/>
              <a:t> Estimates daily self-reported affect from sensor data, testing ways to handle individual differences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 dirty="0"/>
              <a:t>Found:</a:t>
            </a:r>
            <a:r>
              <a:rPr sz="1250" b="0" dirty="0"/>
              <a:t> Hard to do well: behavior is complex and people report their own </a:t>
            </a:r>
            <a:r>
              <a:rPr lang="en-US" sz="1250" b="0" dirty="0"/>
              <a:t>effect</a:t>
            </a:r>
            <a:r>
              <a:rPr sz="1250" b="0" dirty="0"/>
              <a:t> differently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 dirty="0"/>
              <a:t>Why it matters:</a:t>
            </a:r>
            <a:r>
              <a:rPr sz="1250" b="0" dirty="0"/>
              <a:t> A caution for any engagement labels built from self-reports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 dirty="0"/>
              <a:t>Limitation:</a:t>
            </a:r>
            <a:r>
              <a:rPr sz="1250" b="0" dirty="0"/>
              <a:t> Daily mood, not moment-to-moment states in a meeting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468880"/>
            <a:ext cx="3246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sz="1500" b="1"/>
              <a:t>Physiological Synchrony (Holder et al., 2024)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What:</a:t>
            </a:r>
            <a:r>
              <a:rPr sz="1250" b="0"/>
              <a:t> Synchronized wearables on people and therapy dogs, recording physiology and behavior through each session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Found:</a:t>
            </a:r>
            <a:r>
              <a:rPr sz="1250" b="0"/>
              <a:t> Introduces a subsession heatmap, synchrony table, and metric correlation matrix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Why it matters:</a:t>
            </a:r>
            <a:r>
              <a:rPr sz="1250" b="0"/>
              <a:t> Worked example of measuring synchrony between two wearers; the visuals could apply to multiple badges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Limitation:</a:t>
            </a:r>
            <a:r>
              <a:rPr sz="1250" b="0"/>
              <a:t> Exploratory pilot in animal therapy, not meetings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Research: Workplace &amp; Meetings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7A59A-4F26-DAE6-3E11-AF5DC61905BA}"/>
              </a:ext>
            </a:extLst>
          </p:cNvPr>
          <p:cNvSpPr txBox="1"/>
          <p:nvPr/>
        </p:nvSpPr>
        <p:spPr>
          <a:xfrm>
            <a:off x="74577" y="6544127"/>
            <a:ext cx="14356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SCI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246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sz="1500" b="1"/>
              <a:t>Sociometric Workplace Devices (Ito-Masui et al., 2021)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What:</a:t>
            </a:r>
            <a:r>
              <a:rPr sz="1250" b="0"/>
              <a:t> Review of badge-style wearables in offices and hospitals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Found:</a:t>
            </a:r>
            <a:r>
              <a:rPr sz="1250" b="0"/>
              <a:t> Badge-captured interaction has been linked to teamwork and productivity in offices; validation studies found weaknesses in acute medical settings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Why it matters:</a:t>
            </a:r>
            <a:r>
              <a:rPr sz="1250" b="0"/>
              <a:t> Compact overview of where badges work and where they fall short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Limitation:</a:t>
            </a:r>
            <a:r>
              <a:rPr sz="1250" b="0"/>
              <a:t> Review only, no new experiment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468880"/>
            <a:ext cx="3246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sz="1500" b="1"/>
              <a:t>Collective Intelligence (Pulcinelli et al., 2023)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What:</a:t>
            </a:r>
            <a:r>
              <a:rPr sz="1250" b="0"/>
              <a:t> Review of wearables for studying clinical team behavior, which has mostly relied on surveys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Found:</a:t>
            </a:r>
            <a:r>
              <a:rPr sz="1250" b="0"/>
              <a:t> Lists what to measure (face-to-face time, proximity, speaking time) and which devices (IR, RFID, Bluetooth) do it, with pros and cons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Why it matters:</a:t>
            </a:r>
            <a:r>
              <a:rPr sz="1250" b="0"/>
              <a:t> A catalog for deciding what else the badge should measure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Limitation:</a:t>
            </a:r>
            <a:r>
              <a:rPr sz="1250" b="0"/>
              <a:t> Overview; no specific sensor fusion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468880"/>
            <a:ext cx="3246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sz="1500" b="1"/>
              <a:t>Mixed-Reality Meetings (Krug et al., 2025)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What:</a:t>
            </a:r>
            <a:r>
              <a:rPr sz="1250" b="0"/>
              <a:t> Five-page CHI workshop paper on large mixed-reality meetings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Found:</a:t>
            </a:r>
            <a:r>
              <a:rPr sz="1250" b="0"/>
              <a:t> Proposes adapting what each person sees and hears to reduce overload and fatigue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Why it matters:</a:t>
            </a:r>
            <a:r>
              <a:rPr sz="1250" b="0"/>
              <a:t> Frames overload in large hybrid meetings as a design problem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Limitation:</a:t>
            </a:r>
            <a:r>
              <a:rPr sz="1250" b="0"/>
              <a:t> Discussion paper, no tested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Research: Fusion &amp; Social Sensing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7A59A-4F26-DAE6-3E11-AF5DC61905BA}"/>
              </a:ext>
            </a:extLst>
          </p:cNvPr>
          <p:cNvSpPr txBox="1"/>
          <p:nvPr/>
        </p:nvSpPr>
        <p:spPr>
          <a:xfrm>
            <a:off x="74577" y="6544127"/>
            <a:ext cx="14356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SCI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246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sz="1500" b="1"/>
              <a:t>Multimodal Sensor Fusion (Bello, 2024)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What:</a:t>
            </a:r>
            <a:r>
              <a:rPr sz="1250" b="0"/>
              <a:t> Two-page PhD abstract summarizing doctoral work on wearable sensor fusion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Found:</a:t>
            </a:r>
            <a:r>
              <a:rPr sz="1250" b="0"/>
              <a:t> Inertial, pressure, and textile capacitive sensing for gestures, head and face patterns, and posture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Why it matters:</a:t>
            </a:r>
            <a:r>
              <a:rPr sz="1250" b="0"/>
              <a:t> Supports fusing several cheap sensors, like the Rev2 board's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Limitation:</a:t>
            </a:r>
            <a:r>
              <a:rPr sz="1250" b="0"/>
              <a:t> Accuracy numbers are in the thesis, not the abstract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468880"/>
            <a:ext cx="3246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sz="1500" b="1"/>
              <a:t>Social Intelligence in AI (Mathur et al., 2024)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What:</a:t>
            </a:r>
            <a:r>
              <a:rPr sz="1250" b="0"/>
              <a:t> CMU position paper on AI agents that sense and respond to people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Found:</a:t>
            </a:r>
            <a:r>
              <a:rPr sz="1250" b="0"/>
              <a:t> Four challenge areas: ambiguous social constructs, subtle signals, multiple perspectives, and agency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Why it matters:</a:t>
            </a:r>
            <a:r>
              <a:rPr sz="1250" b="0"/>
              <a:t> Explains why sensing several people over time is hard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Limitation:</a:t>
            </a:r>
            <a:r>
              <a:rPr sz="1250" b="0"/>
              <a:t> No sensor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468880"/>
            <a:ext cx="3246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sz="1500" b="1"/>
              <a:t>Multimodal Interaction Survey (Dritsas et al., 2025)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What:</a:t>
            </a:r>
            <a:r>
              <a:rPr sz="1250" b="0"/>
              <a:t> Survey of systems combining speech, gesture, touch, and gaze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Found:</a:t>
            </a:r>
            <a:r>
              <a:rPr sz="1250" b="0"/>
              <a:t> Covers fusion design, including time synchronization and decision-level integration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Why it matters:</a:t>
            </a:r>
            <a:r>
              <a:rPr sz="1250" b="0"/>
              <a:t> Vocabulary for our own fusion choices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sz="1250" b="1"/>
              <a:t>Limitation:</a:t>
            </a:r>
            <a:r>
              <a:rPr sz="1250" b="0"/>
              <a:t> Focuses on human-computer interfaces, not group sensing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High-Rate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60320"/>
            <a:ext cx="5394960" cy="3383280"/>
          </a:xfrm>
        </p:spPr>
        <p:txBody>
          <a:bodyPr/>
          <a:lstStyle/>
          <a:p>
            <a:r>
              <a:rPr sz="1600" b="0"/>
              <a:t>Sample rate now </a:t>
            </a:r>
            <a:r>
              <a:rPr sz="1600" b="1"/>
              <a:t>1-200 Hz</a:t>
            </a:r>
            <a:r>
              <a:rPr sz="1600" b="0"/>
              <a:t> (was 16 Hz)</a:t>
            </a:r>
          </a:p>
          <a:p>
            <a:pPr lvl="1"/>
            <a:r>
              <a:rPr sz="1500" b="0"/>
              <a:t>High-priority thread on a microsecond timer</a:t>
            </a:r>
          </a:p>
          <a:p>
            <a:pPr lvl="1"/>
            <a:r>
              <a:rPr sz="1500" b="0"/>
              <a:t>Accel + gyro in one I²C read (4.8 ms → 1.2 ms)</a:t>
            </a:r>
          </a:p>
          <a:p>
            <a:r>
              <a:rPr sz="1600" b="0"/>
              <a:t>Sampling and sending are </a:t>
            </a:r>
            <a:r>
              <a:rPr sz="1600" b="1"/>
              <a:t>independent</a:t>
            </a:r>
          </a:p>
          <a:p>
            <a:pPr lvl="1"/>
            <a:r>
              <a:rPr sz="1500" b="0"/>
              <a:t>128 KB buffer of compact binary samples</a:t>
            </a:r>
          </a:p>
          <a:p>
            <a:pPr lvl="1"/>
            <a:r>
              <a:rPr sz="1500" b="0"/>
              <a:t>~20 bytes per sample instead of ~115 as text</a:t>
            </a:r>
          </a:p>
          <a:p>
            <a:r>
              <a:rPr sz="1600" b="0"/>
              <a:t>Every sample has a </a:t>
            </a:r>
            <a:r>
              <a:rPr sz="1600" b="1"/>
              <a:t>sequence number</a:t>
            </a:r>
          </a:p>
          <a:p>
            <a:pPr lvl="1"/>
            <a:r>
              <a:rPr sz="1500" b="0"/>
              <a:t>Viewer shows measured rate and dropped samples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7A59A-4F26-DAE6-3E11-AF5DC61905BA}"/>
              </a:ext>
            </a:extLst>
          </p:cNvPr>
          <p:cNvSpPr txBox="1"/>
          <p:nvPr/>
        </p:nvSpPr>
        <p:spPr>
          <a:xfrm>
            <a:off x="74577" y="6544127"/>
            <a:ext cx="14356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SCI Lab</a:t>
            </a:r>
          </a:p>
        </p:txBody>
      </p:sp>
      <p:pic>
        <p:nvPicPr>
          <p:cNvPr id="8" name="Picture 7" descr="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377440"/>
            <a:ext cx="5120640" cy="33599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Sending &amp; 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400" b="0"/>
              <a:t>Send interval:</a:t>
            </a:r>
          </a:p>
          <a:p>
            <a:r>
              <a:rPr sz="1400" b="0"/>
              <a:t>Immediately, or any interval up to 10 min</a:t>
            </a:r>
          </a:p>
          <a:p>
            <a:r>
              <a:rPr sz="1400" b="0"/>
              <a:t>BLE packs up to 13 samples per notification</a:t>
            </a:r>
          </a:p>
          <a:p>
            <a:r>
              <a:rPr sz="1400" b="0"/>
              <a:t>USB expands packets into CSV rows</a:t>
            </a:r>
          </a:p>
          <a:p>
            <a:pPr marL="0" indent="0">
              <a:buNone/>
            </a:pPr>
            <a:r>
              <a:rPr sz="1400" b="0"/>
              <a:t>Tested over BLE on Windows:</a:t>
            </a:r>
          </a:p>
          <a:p>
            <a:r>
              <a:rPr sz="1400" b="0"/>
              <a:t>100 Hz: immediately, 15 s, 30 s, 1 min</a:t>
            </a:r>
          </a:p>
          <a:p>
            <a:r>
              <a:rPr sz="1400" b="0"/>
              <a:t>200 Hz: every 30 s</a:t>
            </a:r>
          </a:p>
          <a:p>
            <a:r>
              <a:rPr sz="1400" b="1"/>
              <a:t>No missing samples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sz="1400" b="0"/>
              <a:t>Buffer holds about:</a:t>
            </a:r>
          </a:p>
          <a:p>
            <a:r>
              <a:rPr sz="1400" b="0"/>
              <a:t>200 Hz: 33 s</a:t>
            </a:r>
          </a:p>
          <a:p>
            <a:r>
              <a:rPr sz="1400" b="0"/>
              <a:t>100 Hz: 63 s</a:t>
            </a:r>
          </a:p>
          <a:p>
            <a:r>
              <a:rPr sz="1400" b="0"/>
              <a:t>50 Hz: 1.8 min</a:t>
            </a:r>
          </a:p>
          <a:p>
            <a:r>
              <a:rPr sz="1400" b="0"/>
              <a:t>10 Hz: 4 min</a:t>
            </a:r>
          </a:p>
          <a:p>
            <a:r>
              <a:rPr sz="1400" b="0"/>
              <a:t>1 Hz: 10+ min</a:t>
            </a:r>
          </a:p>
          <a:p>
            <a:pPr marL="0" indent="0">
              <a:buNone/>
            </a:pPr>
            <a:r>
              <a:rPr sz="1400" b="0"/>
              <a:t>Interval longer than the buffer:</a:t>
            </a:r>
          </a:p>
          <a:p>
            <a:r>
              <a:rPr sz="1400" b="0"/>
              <a:t>Badge warns and sends early when nearly full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8</a:t>
            </a:fld>
            <a:endParaRPr 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677A59A-4F26-DAE6-3E11-AF5DC61905BA}"/>
              </a:ext>
            </a:extLst>
          </p:cNvPr>
          <p:cNvSpPr txBox="1"/>
          <p:nvPr/>
        </p:nvSpPr>
        <p:spPr>
          <a:xfrm>
            <a:off x="74577" y="6544127"/>
            <a:ext cx="14356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SCI Lab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 dirty="0"/>
              <a:t>Connect over </a:t>
            </a:r>
            <a:r>
              <a:rPr sz="1800" b="1" dirty="0"/>
              <a:t>Bluetooth LE</a:t>
            </a:r>
            <a:r>
              <a:rPr sz="1800" b="0" dirty="0"/>
              <a:t> to HM Badge No.01</a:t>
            </a:r>
          </a:p>
          <a:p>
            <a:r>
              <a:rPr sz="1800" b="0" dirty="0"/>
              <a:t>Set </a:t>
            </a:r>
            <a:r>
              <a:rPr sz="1800" b="1" dirty="0"/>
              <a:t>100 Hz</a:t>
            </a:r>
            <a:r>
              <a:rPr sz="1800" b="0" dirty="0"/>
              <a:t> and a send interval, then Apply</a:t>
            </a:r>
          </a:p>
          <a:p>
            <a:r>
              <a:rPr sz="1800" b="0" dirty="0"/>
              <a:t>Watch the measured rate and dropped count</a:t>
            </a:r>
          </a:p>
          <a:p>
            <a:r>
              <a:rPr sz="1800" b="0" dirty="0"/>
              <a:t>Record a CSV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7A59A-4F26-DAE6-3E11-AF5DC61905BA}"/>
              </a:ext>
            </a:extLst>
          </p:cNvPr>
          <p:cNvSpPr txBox="1"/>
          <p:nvPr/>
        </p:nvSpPr>
        <p:spPr>
          <a:xfrm>
            <a:off x="74577" y="6544127"/>
            <a:ext cx="14356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SCI Lab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Cited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100" b="0"/>
              <a:t>Liang et al., 2023: </a:t>
            </a:r>
            <a:r>
              <a:rPr sz="1100">
                <a:hlinkClick r:id="rId2"/>
              </a:rPr>
              <a:t>https://doi.org/10.1145/3610882</a:t>
            </a:r>
          </a:p>
          <a:p>
            <a:pPr marL="0" indent="0">
              <a:buNone/>
            </a:pPr>
            <a:r>
              <a:rPr sz="1100" b="0"/>
              <a:t>Bari et al., 2020: </a:t>
            </a:r>
            <a:r>
              <a:rPr sz="1100">
                <a:hlinkClick r:id="rId3"/>
              </a:rPr>
              <a:t>https://doi.org/10.1145/3432210</a:t>
            </a:r>
          </a:p>
          <a:p>
            <a:pPr marL="0" indent="0">
              <a:buNone/>
            </a:pPr>
            <a:r>
              <a:rPr sz="1100" b="0"/>
              <a:t>Rosatelli et al., 2019: </a:t>
            </a:r>
            <a:r>
              <a:rPr sz="1100">
                <a:hlinkClick r:id="rId4"/>
              </a:rPr>
              <a:t>https://doi.org/10.1109/aciiw.2019.8925179</a:t>
            </a:r>
          </a:p>
          <a:p>
            <a:pPr marL="0" indent="0">
              <a:buNone/>
            </a:pPr>
            <a:r>
              <a:rPr sz="1100" b="0"/>
              <a:t>Ovaska et al., 2021: </a:t>
            </a:r>
            <a:r>
              <a:rPr sz="1100">
                <a:hlinkClick r:id="rId5"/>
              </a:rPr>
              <a:t>https://doi.org/10.48550/arxiv.2108.05553</a:t>
            </a:r>
          </a:p>
          <a:p>
            <a:pPr marL="0" indent="0">
              <a:buNone/>
            </a:pPr>
            <a:r>
              <a:rPr sz="1100" b="0"/>
              <a:t>Ito-Masui et al., 2021: </a:t>
            </a:r>
            <a:r>
              <a:rPr sz="1100">
                <a:hlinkClick r:id="rId6"/>
              </a:rPr>
              <a:t>https://doi.org/10.2144/btn-2020-0160</a:t>
            </a:r>
          </a:p>
          <a:p>
            <a:pPr marL="0" indent="0">
              <a:buNone/>
            </a:pPr>
            <a:r>
              <a:rPr sz="1100" b="0"/>
              <a:t>Pulcinelli et al., 2023: </a:t>
            </a:r>
            <a:r>
              <a:rPr sz="1100">
                <a:hlinkClick r:id="rId7"/>
              </a:rPr>
              <a:t>https://doi.org/10.3390/s23249777</a:t>
            </a:r>
          </a:p>
          <a:p>
            <a:pPr marL="0" indent="0">
              <a:buNone/>
            </a:pPr>
            <a:r>
              <a:rPr sz="1100" b="0"/>
              <a:t>Yan et al., 2020: </a:t>
            </a:r>
            <a:r>
              <a:rPr sz="1100">
                <a:hlinkClick r:id="rId8"/>
              </a:rPr>
              <a:t>https://doi.org/10.1007/s41666-019-00066-z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sz="1100" b="0"/>
              <a:t>Holder et al., 2024: </a:t>
            </a:r>
            <a:r>
              <a:rPr sz="1100">
                <a:hlinkClick r:id="rId9"/>
              </a:rPr>
              <a:t>https://doi.org/10.3390/ani14243628</a:t>
            </a:r>
          </a:p>
          <a:p>
            <a:pPr marL="0" indent="0">
              <a:buNone/>
            </a:pPr>
            <a:r>
              <a:rPr sz="1100" b="0"/>
              <a:t>Krug et al., 2025: </a:t>
            </a:r>
            <a:r>
              <a:rPr sz="1100">
                <a:hlinkClick r:id="rId10"/>
              </a:rPr>
              <a:t>https://doi.org/10.48550/arxiv.2504.03455</a:t>
            </a:r>
          </a:p>
          <a:p>
            <a:pPr marL="0" indent="0">
              <a:buNone/>
            </a:pPr>
            <a:r>
              <a:rPr sz="1100" b="0"/>
              <a:t>Bello, 2024: </a:t>
            </a:r>
            <a:r>
              <a:rPr sz="1100">
                <a:hlinkClick r:id="rId11"/>
              </a:rPr>
              <a:t>https://doi.org/10.1109/percomworkshops59983.2024.10502797</a:t>
            </a:r>
          </a:p>
          <a:p>
            <a:pPr marL="0" indent="0">
              <a:buNone/>
            </a:pPr>
            <a:r>
              <a:rPr sz="1100" b="0"/>
              <a:t>Mathur et al., 2024: </a:t>
            </a:r>
            <a:r>
              <a:rPr sz="1100">
                <a:hlinkClick r:id="rId12"/>
              </a:rPr>
              <a:t>https://doi.org/10.48550/arxiv.2404.11023</a:t>
            </a:r>
          </a:p>
          <a:p>
            <a:pPr marL="0" indent="0">
              <a:buNone/>
            </a:pPr>
            <a:r>
              <a:rPr sz="1100" b="0"/>
              <a:t>Dritsas et al., 2025: </a:t>
            </a:r>
            <a:r>
              <a:rPr sz="1100">
                <a:hlinkClick r:id="rId13"/>
              </a:rPr>
              <a:t>https://doi.org/10.3390/mti9010006</a:t>
            </a:r>
          </a:p>
          <a:p>
            <a:pPr marL="0" indent="0">
              <a:buNone/>
            </a:pPr>
            <a:r>
              <a:rPr sz="1100" b="0"/>
              <a:t>Bustos-López et al., 2022: </a:t>
            </a:r>
            <a:r>
              <a:rPr sz="1100">
                <a:hlinkClick r:id="rId14"/>
              </a:rPr>
              <a:t>https://doi.org/10.3390/bios12070509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10</a:t>
            </a:fld>
            <a:endParaRPr 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677A59A-4F26-DAE6-3E11-AF5DC61905BA}"/>
              </a:ext>
            </a:extLst>
          </p:cNvPr>
          <p:cNvSpPr txBox="1"/>
          <p:nvPr/>
        </p:nvSpPr>
        <p:spPr>
          <a:xfrm>
            <a:off x="74577" y="6544127"/>
            <a:ext cx="14356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SCI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1444</Words>
  <Application>Microsoft Office PowerPoint</Application>
  <PresentationFormat>Widescreen</PresentationFormat>
  <Paragraphs>157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Grandview Display</vt:lpstr>
      <vt:lpstr>DashVTI</vt:lpstr>
      <vt:lpstr>New Research &amp; High-Rate Sampling</vt:lpstr>
      <vt:lpstr>New Research: Conversation Detection</vt:lpstr>
      <vt:lpstr>New Research: Groups &amp; Stress</vt:lpstr>
      <vt:lpstr>New Research: Engagement &amp; Affect</vt:lpstr>
      <vt:lpstr>New Research: Workplace &amp; Meetings</vt:lpstr>
      <vt:lpstr>New Research: Fusion &amp; Social Sensing</vt:lpstr>
      <vt:lpstr>High-Rate Sampling</vt:lpstr>
      <vt:lpstr>Sending &amp; Buffering</vt:lpstr>
      <vt:lpstr>Live Demo</vt:lpstr>
      <vt:lpstr>Work Cited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Austin Sternberg</cp:lastModifiedBy>
  <cp:revision>2</cp:revision>
  <dcterms:created xsi:type="dcterms:W3CDTF">2026-01-29T00:07:04Z</dcterms:created>
  <dcterms:modified xsi:type="dcterms:W3CDTF">2026-09-25T17:51:54Z</dcterms:modified>
</cp:coreProperties>
</file>